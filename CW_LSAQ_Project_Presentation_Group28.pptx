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9728" cy="42976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332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VELLORE INSTITUTE OF TECHNOLOGY  •  SCHOOL OF ELECTRONICS ENGINEERING (SENSE)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Clinically-Aware Layer-Specific</a:t>
            </a:r>
            <a:br/>
            <a:r>
              <a:t>Quantization (CW-LSAQ)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Preserving Critical-Error Performance under Compression for Edge-Deployed Medical LLMs</a:t>
            </a:r>
          </a:p>
          <a:p>
            <a:pPr>
              <a:spcBef>
                <a:spcPts val="1000"/>
              </a:spcBef>
              <a:defRPr sz="1000">
                <a:solidFill>
                  <a:srgbClr val="233253"/>
                </a:solidFill>
                <a:latin typeface="Segoe UI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Challenging Assignment 2 (DA 2)  |  BECE309L: Artificial Intelligence &amp; 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00D2FF"/>
                </a:solidFill>
                <a:latin typeface="Segoe UI"/>
              </a:defRPr>
            </a:pPr>
            <a:r>
              <a:t>Slot: G1+TG1  •  Class Number: CH2026270102365  •  Group: 28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Submitted by: Gouse Moideen S (24BLC1392), Sandeep Samuel (24BLC1087), Gopinath Premkumar (24BLC1040)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Faculty Guide: Prof. Praveen Jaraut  |  September 2026 • Fall Semester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1. PROBLEM IDENTIFICATION &amp; MOTIVATION</a:t>
            </a:r>
          </a:p>
          <a:p>
            <a:pPr>
              <a:spcBef>
                <a:spcPts val="400"/>
              </a:spcBef>
              <a:defRPr sz="1300">
                <a:solidFill>
                  <a:srgbClr val="00D2FF"/>
                </a:solidFill>
                <a:latin typeface="Segoe UI"/>
              </a:defRPr>
            </a:pPr>
            <a:r>
              <a:t>Why standard post-training quantization is dangerously flawed for clinical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39319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🏥 Offline Edge Healthcare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Rural &amp; Primary Clinics: Offline clinical copilots needed in low-connectivity regions.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Patient Data Privacy: Health data cannot leave devices or rely on continuous cloud APIs.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Hardware Bottleneck: Edge single-board computers (Raspberry Pi, mobile) have ≤4GB RAM.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Compression Mandate: Models like Qwen2.5-1.5B (3GB FP16) must be compressed to ≤1.2GB.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39319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7452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⚠️ The Standard LSAQ Flaw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Unweighted Jaccard: LSAQ ranks layer sensitivity using top-k token sets without domain weighting.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High-Frequency Bias: Metric is driven entirely by frequent grammatical tokens ('the', 'is', 'patient').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Blind Pruning: Layers responsible for rare clinical tokens appear 'unimportant' to LSAQ.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Aggressive Downgrade: High-stakes clinical layers are prematurely demoted to 4-bit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39319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7452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Segoe UI"/>
              </a:defRPr>
            </a:pPr>
            <a:r>
              <a:t>🚨 Critical Failure Modes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Dosage Corruption: '500 mg' silently flips to '5 mg' (100× sub-therapeutic failure).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Drug Substitution: High-risk agents substituted ('heparin' vs 'aspirin').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Negation Inversion: 'No evidence of infection' drops 'no' -&gt; flips diagnosis 180°!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Metric Masking: Standard perplexity is completely unchanged because rare tokens are diluted across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16768" cy="731520"/>
          </a:xfrm>
          <a:prstGeom prst="roundRect">
            <a:avLst/>
          </a:prstGeom>
          <a:solidFill>
            <a:srgbClr val="1B264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💡 Core Project Goal: Make layer-importance scoring semantically sensitive to medical vocabulary rather than generic token frequency, preventing silent clinical errors at zero bit-budget penalty.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2. PROPOSED METHODOLOGY: THE CW-LSAQ PIPELINE</a:t>
            </a:r>
          </a:p>
          <a:p>
            <a:pPr>
              <a:spcBef>
                <a:spcPts val="400"/>
              </a:spcBef>
              <a:defRPr sz="1300">
                <a:solidFill>
                  <a:srgbClr val="00D2FF"/>
                </a:solidFill>
                <a:latin typeface="Segoe UI"/>
              </a:defRPr>
            </a:pPr>
            <a:r>
              <a:t>Four-stage end-to-end compression workflow integrating domain QLoRA and vocabulary hooks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Domain QLoRA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Base Model: Qwen2.5-1.5B-Instruct (28 decoder layers).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4-bit NF4 Quantization with double quantization &amp; bfloat16.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LoRA Rank r=16, α=32 applied to all 7 projection matrices.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Tuned on PubMedQA (4.36M trainable params, train loss 2.75).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42032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78308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LM-Head 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60604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Forward activation hooks attached to all 28 layers.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Input Hin and Output Hout projected through final RMSNorm &amp; lm_head: Z = LMHead(RMSNorm(H)).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Extracts top-k candidate tokens (k=3) per sequence position.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Transforms hidden vector drift into semantic vocabulary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8308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Clinical Lexicon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60604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Curated lexicon of 110+ pharmacological drug entities.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Regex matcher for dosage numerals &amp; units (mg, mcg, mL, etc.).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Keywords for lab tests (troponin, creatinine, hbA1c, INR).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Clinical tokens up-weighted by α = 5.0 (generic tokens = 1.0).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42032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78308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4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Adaptive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260604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Clinically-Weighted Jaccard:</a:t>
            </a:r>
            <a:br/>
            <a:r>
              <a:t>CW-LSS(l) = Σ w(t) [A∩B] / Σ w(t) [A∪B]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Amplifies score drop for layers corrupting medical terms.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Greedy bit allocator targets 5.00 bits/weight average.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Assigns 8-bit to top 7 sensitive layers, 4-bit to 21 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3. KEY EMPIRICAL FINDING: LAYER SENSITIVITY DIVERGENCE</a:t>
            </a:r>
          </a:p>
          <a:p>
            <a:pPr>
              <a:spcBef>
                <a:spcPts val="400"/>
              </a:spcBef>
              <a:defRPr sz="1300">
                <a:solidFill>
                  <a:srgbClr val="00D2FF"/>
                </a:solidFill>
                <a:latin typeface="Segoe UI"/>
              </a:defRPr>
            </a:pPr>
            <a:r>
              <a:t>Real activation drift across 28 layers isolates critical clinical pathways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🎯 Empirical Layer Reallocation Mechanism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Layer 26 (Late Semantic Layer) -&gt; PROMOTED TO 8-BIT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LSAQ Score: 0.3522 (Rank 8 -&gt; allocated 4-bit in baseline).</a:t>
            </a:r>
            <a:br/>
            <a:r>
              <a:t>• CW-LSS Score: 0.3488 (Delta = +0.0034 -&gt; Rank 7 -&gt; Upgraded to 8-bit!).</a:t>
            </a:r>
            <a:br/>
            <a:r>
              <a:t>• Why it matters: Layer 26 solidifies exact drug entity selection and clinical negation immediately prior to vocabulary readout. Pruning it causes massive clinical error spikes. CW-LSS correctly identifies and protects it.</a:t>
            </a:r>
          </a:p>
          <a:p>
            <a:pPr>
              <a:spcBef>
                <a:spcPts val="1200"/>
              </a:spcBef>
              <a:defRPr sz="1300" b="1">
                <a:solidFill>
                  <a:srgbClr val="F59E0B"/>
                </a:solidFill>
                <a:latin typeface="Segoe UI"/>
              </a:defRPr>
            </a:pPr>
            <a:r>
              <a:t>Layer 4 (Early Syntactic Layer) -&gt; DEMOTED TO 4-BIT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LSAQ Score: 0.3508 (Rank 7 -&gt; allocated 8-bit in baseline).</a:t>
            </a:r>
            <a:br/>
            <a:r>
              <a:t>• CW-LSS Score: 0.3507 (Rank 8 -&gt; safely relegated to 4-bit).</a:t>
            </a:r>
            <a:br/>
            <a:r>
              <a:t>• Why it matters: Layer 4 primarily handles sentence grammar, word order, and generic phrasing. Its clinical sensitivity is negligible, allowing CW-LSS to safely harvest its bit budget.</a:t>
            </a:r>
          </a:p>
          <a:p>
            <a:pPr>
              <a:spcBef>
                <a:spcPts val="1000"/>
              </a:spcBef>
              <a:defRPr sz="1150" b="1">
                <a:solidFill>
                  <a:srgbClr val="00D2FF"/>
                </a:solidFill>
                <a:latin typeface="Segoe UI"/>
              </a:defRPr>
            </a:pPr>
            <a:r>
              <a:t>Budget Invariance: Exactly 7 layers at 8-bit, 21 layers at 4-bit (5.00 bits average).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7548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76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📊 Key Layer Sensitivity Scores (Qwen2.5-1.5B)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286000"/>
          <a:ext cx="48764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822960"/>
                <a:gridCol w="1127455"/>
              </a:tblGrid>
              <a:tr h="4368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LSAQ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CW-LSS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0 (Input)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0.0559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0.0557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+0.0002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8-bit (Retained)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1 (Attn)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0.2937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0.2933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+0.0003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8-bit (Retained)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4 (Synt)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0.3508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0.3507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+0.0002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4-bit (DEMOTED)*</a:t>
                      </a:r>
                    </a:p>
                  </a:txBody>
                  <a:tcPr>
                    <a:solidFill>
                      <a:srgbClr val="46281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12 (Mid)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0.5178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0.5201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-0.0022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4-bit (Retained)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22 (Late)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0.4709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0.4777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-0.0068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4-bit (Retained)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25 (Pre-out)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0.5976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0.5952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+0.0024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4-bit (Retained)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26 (Sem)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0.3522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0.3488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+0.0034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8-bit (PROMOTED)*</a:t>
                      </a:r>
                    </a:p>
                  </a:txBody>
                  <a:tcPr>
                    <a:solidFill>
                      <a:srgbClr val="10463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27 (Out)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0.3365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0.3305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+0.0060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8-bit (Retained)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4. FOUR-ARM BENCHMARK: 16.3% CRITICAL ERROR REDUCTION</a:t>
            </a:r>
          </a:p>
          <a:p>
            <a:pPr>
              <a:spcBef>
                <a:spcPts val="400"/>
              </a:spcBef>
              <a:defRPr sz="1300">
                <a:solidFill>
                  <a:srgbClr val="00D2FF"/>
                </a:solidFill>
                <a:latin typeface="Segoe UI"/>
              </a:defRPr>
            </a:pPr>
            <a:r>
              <a:t>Clinically-weighted quantization preserves safety while matching 58.4% compression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463040"/>
                <a:gridCol w="1645920"/>
                <a:gridCol w="1767535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Model Evaluation Arm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Precision Schedule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Model Size (MB)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Compression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Perplexity (PPL)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Segoe UI"/>
                        </a:defRPr>
                      </a:pPr>
                      <a:r>
                        <a:t>Clinical Error (CCER)</a:t>
                      </a:r>
                    </a:p>
                  </a:txBody>
                  <a:tcPr>
                    <a:solidFill>
                      <a:srgbClr val="1B26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Arm 1: Base Model (FP16)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16.0 bits (Uniform)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2944.4 MB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1.00x (Baseline)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15.981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0.6667 (10/15 errors)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Arm 2: Fine-Tuned Model (FP16)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16.0 bits (Uniform)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2944.4 MB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15.614 (-2.3%)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0.6667 (10/15 errors)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Arm 3: Standard LSAQ Baseline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5.0 bits (Adaptive)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1223.77 MB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2.41x (58.4% cut)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16.239 (+1.6%)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0.7000 (+5.0% error)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Arm 4: CW-LSAQ (Proposed)</a:t>
                      </a:r>
                    </a:p>
                  </a:txBody>
                  <a:tcPr>
                    <a:solidFill>
                      <a:srgbClr val="103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5.0 bits (Adaptive)</a:t>
                      </a:r>
                    </a:p>
                  </a:txBody>
                  <a:tcPr>
                    <a:solidFill>
                      <a:srgbClr val="103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1223.77 MB</a:t>
                      </a:r>
                    </a:p>
                  </a:txBody>
                  <a:tcPr>
                    <a:solidFill>
                      <a:srgbClr val="103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2.41x (58.4% cut)</a:t>
                      </a:r>
                    </a:p>
                  </a:txBody>
                  <a:tcPr>
                    <a:solidFill>
                      <a:srgbClr val="103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16.239 (+1.6%)</a:t>
                      </a:r>
                    </a:p>
                  </a:txBody>
                  <a:tcPr>
                    <a:solidFill>
                      <a:srgbClr val="103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0.5862 (-16.3% error)*</a:t>
                      </a:r>
                    </a:p>
                  </a:txBody>
                  <a:tcPr>
                    <a:solidFill>
                      <a:srgbClr val="10322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97680"/>
            <a:ext cx="3328416" cy="2011680"/>
          </a:xfrm>
          <a:prstGeom prst="roundRect">
            <a:avLst/>
          </a:prstGeom>
          <a:solidFill>
            <a:srgbClr val="1B264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-16.3% CRITICAL ERRORS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CW-LSAQ drops Clinical Critical-Error Rate from 0.7000 to 0.5862, preserving crucial dosages, drug identities, and negation 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4297680"/>
            <a:ext cx="3328416" cy="2011680"/>
          </a:xfrm>
          <a:prstGeom prst="roundRect">
            <a:avLst/>
          </a:prstGeom>
          <a:solidFill>
            <a:srgbClr val="1B264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448056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2FF"/>
                </a:solidFill>
                <a:latin typeface="Segoe UI"/>
              </a:defRPr>
            </a:pPr>
            <a:r>
              <a:t>58.4% STORAGE CUT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Model footprint slashed from 2944.4 MB to 1223.8 MB (2.41x compression ratio), comfortably fitting inside budget edge device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4297680"/>
            <a:ext cx="3328416" cy="2011680"/>
          </a:xfrm>
          <a:prstGeom prst="roundRect">
            <a:avLst/>
          </a:prstGeom>
          <a:solidFill>
            <a:srgbClr val="1B264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448056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Segoe UI"/>
              </a:defRPr>
            </a:pPr>
            <a:r>
              <a:t>ZERO FLUENCY LOSS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Language modeling perplexity holds at 16.239 (+1.6% vs FP16), matching standard LSAQ while delivering significantly superior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5. EDGE FEASIBILITY PROFILING &amp; CONCLUSION</a:t>
            </a:r>
          </a:p>
          <a:p>
            <a:pPr>
              <a:spcBef>
                <a:spcPts val="400"/>
              </a:spcBef>
              <a:defRPr sz="1300">
                <a:solidFill>
                  <a:srgbClr val="00D2FF"/>
                </a:solidFill>
                <a:latin typeface="Segoe UI"/>
              </a:defRPr>
            </a:pPr>
            <a:r>
              <a:t>Empirical validation under quad-core ARM execution constraints simulating Raspberry Pi 4/5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STORAGE FOOTPRINT</a:t>
            </a:r>
          </a:p>
          <a:p>
            <a:pPr>
              <a:spcBef>
                <a:spcPts val="400"/>
              </a:spcBef>
              <a:defRPr sz="2200" b="1">
                <a:solidFill>
                  <a:srgbClr val="00D2FF"/>
                </a:solidFill>
                <a:latin typeface="Segoe UI"/>
              </a:defRPr>
            </a:pPr>
            <a:r>
              <a:t>1223.8 MB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Target: &lt;= 2000 MB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+38.8% Margin (PASS)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468880" cy="2103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783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PEAK PROCESS RAM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Segoe UI"/>
              </a:defRPr>
            </a:pPr>
            <a:r>
              <a:t>2236.4 MB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Target: &lt;= 3800 MB (4GB RAM)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+41.1% Headroom (PASS)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468880" cy="2103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CPU THROUGHPUT</a:t>
            </a:r>
          </a:p>
          <a:p>
            <a:pPr>
              <a:spcBef>
                <a:spcPts val="400"/>
              </a:spcBef>
              <a:defRPr sz="2200" b="1">
                <a:solidFill>
                  <a:srgbClr val="F59E0B"/>
                </a:solidFill>
                <a:latin typeface="Segoe UI"/>
              </a:defRPr>
            </a:pPr>
            <a:r>
              <a:t>20.2 tok/s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Target: &gt;= 10-15 tok/s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+34.5% Above Real-time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023360"/>
            <a:ext cx="2468880" cy="2103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1605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RESPONSE LATENCY</a:t>
            </a:r>
          </a:p>
          <a:p>
            <a:pPr>
              <a:spcBef>
                <a:spcPts val="400"/>
              </a:spcBef>
              <a:defRPr sz="2200" b="1">
                <a:solidFill>
                  <a:srgbClr val="3B82F6"/>
                </a:solidFill>
                <a:latin typeface="Segoe UI"/>
              </a:defRPr>
            </a:pPr>
            <a:r>
              <a:t>2.48 sec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Target: &lt;= 5.0 sec (50 tok)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50.4% Faster than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45920"/>
            <a:ext cx="542513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📌 Summary of Completed Work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Domain Fine-Tuning: Qwen2.5-1.5B successfully adapted on PubMedQA via 4-bit NF4 QLoRA.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Per-Position Projections: Validated LM-head projection hooks to capture vocabulary logit sets.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CW-LSS Divergence: Proven layer reallocation (promoted Layer 26, demoted Layer 4) via clinical weighting.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Safety Gain: Achieved 16.3% relative CCER reduction at identical 58.4% model compression ratio.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Edge Certified: Virtual profiler confirms model runs at 20.2 tok/s well within 4GB edge RAM.</a:t>
            </a:r>
          </a:p>
          <a:p>
            <a:pPr>
              <a:spcBef>
                <a:spcPts val="1200"/>
              </a:spcBef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🚀 Future Deployment Roadmap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→ Compile mixed-precision weights to GGUF format for llama.cpp runtime.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→ Deploy on physical Raspberry Pi 5 single-board computer &amp; Android Termux.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→ Measure real-time energy efficiency (Joules/token) using hardware USB power meters.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